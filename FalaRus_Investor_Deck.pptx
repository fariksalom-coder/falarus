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Foydalanuvchilar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1-oy</c:v>
                  </c:pt>
                  <c:pt idx="1">
                    <c:v>2-oy</c:v>
                  </c:pt>
                  <c:pt idx="2">
                    <c:v>3-oy</c:v>
                  </c:pt>
                  <c:pt idx="3">
                    <c:v>4-oy</c:v>
                  </c:pt>
                  <c:pt idx="4">
                    <c:v>5-oy</c:v>
                  </c:pt>
                  <c:pt idx="5">
                    <c:v>6-oy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380</c:v>
                </c:pt>
                <c:pt idx="2">
                  <c:v>720</c:v>
                </c:pt>
                <c:pt idx="3">
                  <c:v>1450</c:v>
                </c:pt>
                <c:pt idx="4">
                  <c:v>2800</c:v>
                </c:pt>
                <c:pt idx="5">
                  <c:v>4900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4114800" cy="4114800"/>
          </a:xfrm>
          <a:prstGeom prst="ellipse">
            <a:avLst/>
          </a:prstGeom>
          <a:solidFill>
            <a:srgbClr val="2563EB">
              <a:alpha val="22000"/>
            </a:srgbClr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108960"/>
            <a:ext cx="2926080" cy="2926080"/>
          </a:xfrm>
          <a:prstGeom prst="ellipse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566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INVESTORLAR UCHUN TAQDIMOT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tilini bilmasdan</a:t>
            </a:r>
            <a:endParaRPr lang="en-US" sz="3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Rossiyada ishlash mumkin emas.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buni o'zbeklar uchun yechamiz — telefonda, har kuni, ona tilida.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3657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Iyun 2026  •  Seed bosqichi  •  falarus.uz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0" y="201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Muammo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566928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Millionlab o'zbeklar Rossiyada — lekin tilsiz.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 ВНЖ imtihonlari — rus tilida. Yiqilsang, ishga ham, ko'chada yurishga ham ruxsat yo'q.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8348" y="205740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" y="2057400"/>
            <a:ext cx="73152" cy="2377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231343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2668" y="27706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1.5M+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2668" y="3383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Rossiyada ishlovchi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migrant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2668" y="3931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yili Patent va ВНЖ imtihonidan o'tishi shart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68980" y="205740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68980" y="2057400"/>
            <a:ext cx="73152" cy="2377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231343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43300" y="27706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543300" y="3383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Imtihondan birinchi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urinishda yiqiladi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543300" y="3931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sabab — rus tilini tushunmaslik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39612" y="205740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9612" y="2057400"/>
            <a:ext cx="73152" cy="2377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2313432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13932" y="27706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$300+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6313932" y="3383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Tayyorlov kursi narxi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Moskva/repetitor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313932" y="3931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Ko'pchilik uchun haqiqatdan ham qimmat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11480" y="4590288"/>
            <a:ext cx="832104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02920" y="45902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"Rus tilini bilmasak, ishga ham, oilamizga ham hech narsa ololmaymiz." — migrant, 32 yosh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114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Investorlar uchun maxfiy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0" y="201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Yechim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566928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 — o'zbeklar uchun rus tilini o'rgatadigan #1 platforma.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 va mobil ilova. Patent, ВНЖ va kunlik darslar — bitta joyda, o'zbek tilida tushuntirilgan.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945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2084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 tilida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5840" y="23591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 izoh, savol va javob — o'zbek tilida. Migrant uchun tushunarli.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2743200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346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7249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Imtihonga yo'naltirilgan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005840" y="2999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va ВНЖ savollari aynan platforma ichida — tahlil bilan.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11480" y="3383280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364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Mobilga moslangan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005840" y="36393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App Store kerak emas. Internet sekin bo'lsa ham ishlaydi.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11480" y="4023360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148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40050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O'yinlashtirilgan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005840" y="4279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streak, reyting, ballar — Duolingo darajasidagi motivatsiya.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760720" y="2011680"/>
            <a:ext cx="2971800" cy="2743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228600" dist="76200" dir="5400000">
              <a:srgbClr val="1E3A8A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925312" y="2212848"/>
            <a:ext cx="2642616" cy="235915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053328" y="234086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Bosh sahifa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053328" y="2542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rejang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6053328" y="2926080"/>
            <a:ext cx="2386584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172200" y="29718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Lug'at — 12/20 so'z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172200" y="3246120"/>
            <a:ext cx="2167128" cy="137160"/>
          </a:xfrm>
          <a:prstGeom prst="roundRect">
            <a:avLst>
              <a:gd name="adj" fmla="val 26667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172200" y="3246120"/>
            <a:ext cx="1300277" cy="13716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053328" y="3703320"/>
            <a:ext cx="2386584" cy="310896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172200" y="37033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Grammatika · 15 daq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053328" y="4087368"/>
            <a:ext cx="2386584" cy="310896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172200" y="40873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Patent test · 10 savol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114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Investorlar uchun maxfiy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0" y="201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Mahsulot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566928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foydalanuvchi — 4 ta o'qish formati.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allaqachon ishlaydi: foydalanuvchilar, to'lovlar, real ma'lumotlar.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20116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86000"/>
            <a:ext cx="868680" cy="86868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49631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kursi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91640" y="26517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Rossiyada ishlash patenti uchun rasmiy imtihon savollari. Variantlar, audio, foto.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99432" y="20116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28032" y="2286000"/>
            <a:ext cx="868680" cy="8686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249631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79592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ВНЖ kursi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879592" y="26517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Doimiy yashash ruxsati imtihoni: tarix, qonun, til. To'liq tayyorlov.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11480" y="3593592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3867912"/>
            <a:ext cx="86868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078224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38679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Kunlik darslar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91640" y="42336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kun yangi reja: lug'at, grammatika, o'qish. 0 → A2 ga olib boradi.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99432" y="3593592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28032" y="3867912"/>
            <a:ext cx="86868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4078224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79592" y="38679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Reyting va do'stlar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879592" y="42336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Streak, leaderboard, partner-chat. Motivatsiya = takroriy foydalanuvchi.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114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Investorlar uchun maxfiy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0" y="201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Bozor hajmi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566928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Aniq, o'sayotgan va kam raqobatli bozor.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O'zbeklar Rossiya bo'yicha eng katta migrant guruh — har yili o'sib bormoqda.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777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63040" y="2176272"/>
            <a:ext cx="10973" cy="457200"/>
          </a:xfrm>
          <a:prstGeom prst="rect">
            <a:avLst/>
          </a:prstGeom>
          <a:solidFill>
            <a:srgbClr val="0F172A">
              <a:alpha val="40000"/>
            </a:srgbClr>
          </a:solidFill>
          <a:ln w="12700">
            <a:solidFill>
              <a:srgbClr val="0F172A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1031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 bozor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41401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tilini o'rganishi kerak bo'lgan barcha CIS migrantlari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0" y="2011680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 kishi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71600" y="2926080"/>
            <a:ext cx="6400800" cy="786384"/>
          </a:xfrm>
          <a:prstGeom prst="roundRect">
            <a:avLst>
              <a:gd name="adj" fmla="val 9302"/>
            </a:avLst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2926080"/>
            <a:ext cx="777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331720" y="3090672"/>
            <a:ext cx="10973" cy="457200"/>
          </a:xfrm>
          <a:prstGeom prst="rect">
            <a:avLst/>
          </a:prstGeom>
          <a:solidFill>
            <a:srgbClr val="0F172A">
              <a:alpha val="40000"/>
            </a:srgbClr>
          </a:solidFill>
          <a:ln w="12700">
            <a:solidFill>
              <a:srgbClr val="0F172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3017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bozor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33284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Rossiyaga keluvchi o'zbek migrantlar (Patent + ВНЖ)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89320" y="2926080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kishi/yil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103120" y="3840480"/>
            <a:ext cx="4937760" cy="786384"/>
          </a:xfrm>
          <a:prstGeom prst="roundRect">
            <a:avLst>
              <a:gd name="adj" fmla="val 930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228600" dist="76200" dir="5400000">
              <a:srgbClr val="1E3A8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0" y="3840480"/>
            <a:ext cx="777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063240" y="4005072"/>
            <a:ext cx="10973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931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Maqsadli bozor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42428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yilda erishmoqchi bo'lgan ulush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57800" y="3840480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 obunachi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Rossiya MVD, O'zbekiston Migratsiya agentligi (ochiq ma'lumotlar). Raqamlar — taxminiy.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Investorlar uchun maxfiy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0" y="201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Biznes model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566928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 + bir martalik kurs sotuvi.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tili — obunada. Patent va ВНЖ — bir martalik sotib olinadi.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8348" y="201168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6948" y="2212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6948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so'm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26948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to'plash uchun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6948" y="3337560"/>
            <a:ext cx="21488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3511296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28700" y="3474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 sahifa va statistika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3785616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28700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Kunlik rejaning bir qismi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405993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8700" y="4023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Reyting va ijtimoiy qism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68980" y="2011680"/>
            <a:ext cx="2606040" cy="2743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228600" dist="76200" dir="5400000">
              <a:srgbClr val="1E3A8A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411980" y="217627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411980" y="21762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mashhur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3497580" y="2212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tili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49758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99 000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3497580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so'm / oy   ·   299 000 / yil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497580" y="3337560"/>
            <a:ext cx="2148840" cy="1097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3511296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799332" y="3474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grammatika darslari</a:t>
            </a:r>
            <a:endParaRPr lang="en-US" sz="10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378561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99332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2600+ so'zli lug'at</a:t>
            </a:r>
            <a:endParaRPr lang="en-US" sz="10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4059936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799332" y="4023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Cheksiz testlar va o'yinlar</a:t>
            </a:r>
            <a:endParaRPr lang="en-US" sz="10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4334256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799332" y="4297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statistika va reyting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6039612" y="201168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35" name="Text 26"/>
          <p:cNvSpPr/>
          <p:nvPr/>
        </p:nvSpPr>
        <p:spPr>
          <a:xfrm>
            <a:off x="6268212" y="2212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· ВНЖ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6268212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martalik</a:t>
            </a:r>
            <a:endParaRPr lang="en-US" sz="2400" dirty="0"/>
          </a:p>
        </p:txBody>
      </p:sp>
      <p:sp>
        <p:nvSpPr>
          <p:cNvPr id="37" name="Text 28"/>
          <p:cNvSpPr/>
          <p:nvPr/>
        </p:nvSpPr>
        <p:spPr>
          <a:xfrm>
            <a:off x="626821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kurs alohida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268212" y="3337560"/>
            <a:ext cx="21488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3932" y="3511296"/>
            <a:ext cx="182880" cy="18288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569964" y="3474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Imtihon savollari to'liq</a:t>
            </a:r>
            <a:endParaRPr lang="en-US" sz="105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3932" y="3785616"/>
            <a:ext cx="182880" cy="18288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569964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· foto · variantlar</a:t>
            </a:r>
            <a:endParaRPr lang="en-US" sz="10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3932" y="4059936"/>
            <a:ext cx="182880" cy="18288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569964" y="4023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Yangilanishlar bepul</a:t>
            </a:r>
            <a:endParaRPr lang="en-US" sz="1050" dirty="0"/>
          </a:p>
        </p:txBody>
      </p:sp>
      <p:sp>
        <p:nvSpPr>
          <p:cNvPr id="45" name="Shape 33"/>
          <p:cNvSpPr/>
          <p:nvPr/>
        </p:nvSpPr>
        <p:spPr>
          <a:xfrm>
            <a:off x="411480" y="4572000"/>
            <a:ext cx="8321040" cy="36576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Unit-ekonomika: </a:t>
            </a:r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≈ 99K so'm/oy yoki 299K/yil  ·  CAC ≈ 0 (o'z auditoriya)  ·  Marja &gt; 90% (raqamli mahsulot)</a:t>
            </a:r>
            <a:endParaRPr lang="en-US" sz="1100" dirty="0"/>
          </a:p>
        </p:txBody>
      </p:sp>
      <p:sp>
        <p:nvSpPr>
          <p:cNvPr id="47" name="Text 35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48" name="Text 36"/>
          <p:cNvSpPr/>
          <p:nvPr/>
        </p:nvSpPr>
        <p:spPr>
          <a:xfrm>
            <a:off x="4114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Investorlar uchun maxfiy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0" y="201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Raqobat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566928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O'zbeklar uchun maxsus — boshqalarda yo'q.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Duolingo, Memrise va YouTube kursi bor — lekin migrant uchun yetarli emas.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423160" y="1965960"/>
            <a:ext cx="15544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tilida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77640" y="1965960"/>
            <a:ext cx="1691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Migrantga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yo'naltirilgan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1965960"/>
            <a:ext cx="14173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ВНЖ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86600" y="1965960"/>
            <a:ext cx="16459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 to'lov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423160"/>
            <a:ext cx="201168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23160" y="2423160"/>
            <a:ext cx="155448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977640" y="2423160"/>
            <a:ext cx="169164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2423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669280" y="2423160"/>
            <a:ext cx="14173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2423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086600" y="2423160"/>
            <a:ext cx="16459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11480" y="278892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23160" y="2788920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2316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977640" y="2788920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669280" y="2788920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086600" y="27889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11480" y="315468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Memrise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23160" y="3154680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977640" y="3154680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7764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669280" y="3154680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3154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7086600" y="31546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8660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11480" y="352044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kurslar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423160" y="3520440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2316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3977640" y="3520440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77640" y="3520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69280" y="3520440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0" y="3520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7086600" y="352044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8660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411480" y="388620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Repetitor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423160" y="3886200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2316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3977640" y="3886200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77640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qisman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69280" y="3886200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qisman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86600" y="388620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86600" y="3886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411480" y="4370832"/>
            <a:ext cx="832104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" y="43708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Bizning moat: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kontent + Click/Rahmat to'lovlar + 2600+ migrant uchun maxsus lug'at + brend.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114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Investorlar uchun maxfiy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0" y="201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Traction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566928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ishlayapti. Foydalanuvchi va to'lov real.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Quyidagilarni 0 marketing byudjeti bilan, faqat organik orqali erishdik.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06908" y="205740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6908" y="2057400"/>
            <a:ext cx="199339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" y="228600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 K]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89788" y="290779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o'tgan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9172" y="205740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9172" y="2057400"/>
            <a:ext cx="1993392" cy="73152"/>
          </a:xfrm>
          <a:prstGeom prst="rect">
            <a:avLst/>
          </a:prstGeom>
          <a:solidFill>
            <a:srgbClr val="22A552"/>
          </a:solidFill>
          <a:ln w="12700">
            <a:solidFill>
              <a:srgbClr val="22A5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2052" y="228600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 %]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02052" y="290779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Oylik faol foydalanuvchilar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(MAU / Total)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31436" y="205740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31436" y="2057400"/>
            <a:ext cx="19933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4316" y="228600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 min]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14316" y="290779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foydalanuvchi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sessiyada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43700" y="205740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43700" y="2057400"/>
            <a:ext cx="199339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6580" y="228600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 %]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26580" y="290779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→ Premium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konversiya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 o'sishi (oylar bo'yicha)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3913632"/>
          <a:ext cx="5029200" cy="960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5669280" y="3657600"/>
            <a:ext cx="3063240" cy="12161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767328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126480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Eslatma uchun: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806440" y="4114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raqamlarni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uchrashuvigacha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paneldan to'ldiramiz.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114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Investorlar uchun maxfiy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0" y="201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O'sish strategiyasi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566928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Bizda allaqachon 870 000+ obunachi bor.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Distribyutsiya — o'z auditoriyamizdan. CAC ≈ 0. Bu — bizning eng katta moat.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1188" y="20116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" y="2011680"/>
            <a:ext cx="26974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ASOSIY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9788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790 000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89788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" y="3493008"/>
            <a:ext cx="224028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" y="35844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tili va Patent imtihoni kontenti. Yuqori jalb qilingan migrant auditoriya.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23260" y="20116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3260" y="2011680"/>
            <a:ext cx="26974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186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2-KANAL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5186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80 000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451860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51860" y="3493008"/>
            <a:ext cx="224028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1860" y="35844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Ikkinchi mavzu kanali. Yangi segment va kross-tarqatish uchun.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5332" y="20116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5332" y="2011680"/>
            <a:ext cx="2697480" cy="7315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3932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13932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1 500+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313932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o'sib bormoqda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13932" y="3493008"/>
            <a:ext cx="224028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3932" y="35844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 ishga tushirildi. Reels va short-form — eng tez o'sayotgan kanal.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4370832"/>
            <a:ext cx="832104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44568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22960" y="4370832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Konversiya rejasi: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870K obunachi →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platforma ro'yxati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(~43K)  →  </a:t>
            </a:r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Premium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(~4 300 obunachi · ARR ≈ $100K)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114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Investorlar uchun maxfiy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0" y="201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Jamoa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566928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Mahsulotni ham, bozorni ham yaxshi biladigan jamoa.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Texnologiya, dizayn va kontent — bitta jamoaning ichida.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1188" y="205740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52728" y="233172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4068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" y="3611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Asoschi · CEO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4068" y="3867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va strategiya. Platformani 0 dan qurib chiqdi.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3260" y="205740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0" y="2331720"/>
            <a:ext cx="914400" cy="914400"/>
          </a:xfrm>
          <a:prstGeom prst="ellipse">
            <a:avLst/>
          </a:prstGeom>
          <a:solidFill>
            <a:srgbClr val="22A552"/>
          </a:solidFill>
          <a:ln w="12700">
            <a:solidFill>
              <a:srgbClr val="22A5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40614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[Ism]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06140" y="3611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22A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direktor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06140" y="3867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TypeScript, Express. 5+ yillik full-stack tajriba.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5332" y="205740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76872" y="2331720"/>
            <a:ext cx="914400" cy="9144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268212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[Ism]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8212" y="3611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va metodist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8212" y="3867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tili o'qituvchisi. Patent va ВНЖ darslarini tayyorlaydi.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343400"/>
            <a:ext cx="8321040" cy="43891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34340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Maslahatchilar: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ed-tech mahsulot mentorlari, Rossiya migratsiya yuristi, Click/Rahmat to'lov tizimi mutaxassislari.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Investorlar uchun maxfiy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FalaRus.uz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0" y="201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Yo'l xaritasi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566928"/>
            <a:ext cx="83210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12 oy: foydalanuvchini 10x, daromadni 8x oshirish.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Investitsiyadan oldin va keyin — aniq bosqichlar.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78638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4168" y="2633472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2026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27832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 · Android)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85032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8680" y="3657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lug'at va talaffuz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42232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 foydalanuvchi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328416" y="2633472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487168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2026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2487168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2487168" y="30175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3227832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852928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integratsiya</a:t>
            </a:r>
            <a:endParaRPr lang="en-US" sz="10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328" y="3685032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852928" y="3657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affiliate kanal</a:t>
            </a:r>
            <a:endParaRPr lang="en-US" sz="10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328" y="4142232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852928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foydalanuvchi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5312664" y="2633472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71416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2027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4471416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4471416" y="30175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3227832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837176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(qurilish kompaniyalari)</a:t>
            </a:r>
            <a:endParaRPr lang="en-US" sz="10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8576" y="3685032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837176" y="3657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kursi</a:t>
            </a:r>
            <a:endParaRPr lang="en-US" sz="105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4142232"/>
            <a:ext cx="182880" cy="18288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837176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Premium obunachi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7296912" y="2633472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6455664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2027</a:t>
            </a:r>
            <a:endParaRPr lang="en-US" sz="1050" dirty="0"/>
          </a:p>
        </p:txBody>
      </p:sp>
      <p:sp>
        <p:nvSpPr>
          <p:cNvPr id="41" name="Text 30"/>
          <p:cNvSpPr/>
          <p:nvPr/>
        </p:nvSpPr>
        <p:spPr>
          <a:xfrm>
            <a:off x="6455664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42" name="Shape 31"/>
          <p:cNvSpPr/>
          <p:nvPr/>
        </p:nvSpPr>
        <p:spPr>
          <a:xfrm>
            <a:off x="6455664" y="30175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0000"/>
              </a:srgbClr>
            </a:outerShdw>
          </a:effectLst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2824" y="3227832"/>
            <a:ext cx="182880" cy="18288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821424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Qozoq · Tojik versiyasi</a:t>
            </a:r>
            <a:endParaRPr lang="en-US" sz="105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2824" y="3685032"/>
            <a:ext cx="182880" cy="18288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6821424" y="3657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 in-country kampaniya</a:t>
            </a:r>
            <a:endParaRPr lang="en-US" sz="105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2824" y="4142232"/>
            <a:ext cx="182880" cy="18288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6821424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 foydalanuvchi</a:t>
            </a:r>
            <a:endParaRPr lang="en-US" sz="1050" dirty="0"/>
          </a:p>
        </p:txBody>
      </p:sp>
      <p:sp>
        <p:nvSpPr>
          <p:cNvPr id="49" name="Text 35"/>
          <p:cNvSpPr/>
          <p:nvPr/>
        </p:nvSpPr>
        <p:spPr>
          <a:xfrm>
            <a:off x="822960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0" name="Text 36"/>
          <p:cNvSpPr/>
          <p:nvPr/>
        </p:nvSpPr>
        <p:spPr>
          <a:xfrm>
            <a:off x="4114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Investorlar uchun maxfiy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91840"/>
            <a:ext cx="3200400" cy="32004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280160"/>
            <a:ext cx="3474720" cy="34747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TAKLIF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[$XXX K] seed raund — 18 oyga.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 investitsiya qilish = O'zbekistonda 1-raqamli rus tili platformasi bo'lish.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2606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60604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706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va texnologiya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AI-talaffuz, kontent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73552" y="2606040"/>
            <a:ext cx="2606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3552" y="260604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27706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02152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va o'sish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02152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Telegram, TikTok, sherikchilik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44184" y="2606040"/>
            <a:ext cx="2606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44184" y="260604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27706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72784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72784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muhandis, +1 metodist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81838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6908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oydan keyin: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 foydalanuvchi  ·  10K Premium obunachi  ·  $250K ARR  ·  CAC &lt; $2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736592"/>
            <a:ext cx="2743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Farmon  ·  fariksalom@gmail.com  ·  falarus.uz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FalaRus.uz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FalaRus.uz — Investorlar uchun taqdimot</dc:title>
  <dc:subject>PptxGenJS Presentation</dc:subject>
  <dc:creator>FalaRus.uz</dc:creator>
  <cp:lastModifiedBy>FalaRus.uz</cp:lastModifiedBy>
  <cp:revision>1</cp:revision>
  <dcterms:created xsi:type="dcterms:W3CDTF">2026-06-01T07:56:40Z</dcterms:created>
  <dcterms:modified xsi:type="dcterms:W3CDTF">2026-06-01T07:56:40Z</dcterms:modified>
</cp:coreProperties>
</file>